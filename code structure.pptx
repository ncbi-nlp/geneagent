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62" r:id="rId4"/>
    <p:sldId id="261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2" d="100"/>
          <a:sy n="102" d="100"/>
        </p:scale>
        <p:origin x="83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478E3F-C8A7-0356-33D9-06F4EC0ECD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F0B324-C04C-C9C8-118B-ACFE3E3B48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E57D8C-CDB8-3904-4AD9-158F6C6E76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9D1C45-FF56-4150-A10B-B4BFBDA2B469}" type="datetimeFigureOut">
              <a:rPr lang="en-US" smtClean="0"/>
              <a:t>3/3/2025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CE068E-E5E2-9593-9DDC-A327FA2282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997F48-EFB4-605B-87EA-9770EDF373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6808-33CD-43D1-B992-3050690573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29522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FDF31D-6E60-3775-7835-27A69880D1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CC853A-B952-0706-8815-7225DA8D54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356E36-4278-112A-B84C-DFCBAFE68C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9D1C45-FF56-4150-A10B-B4BFBDA2B469}" type="datetimeFigureOut">
              <a:rPr lang="en-US" smtClean="0"/>
              <a:t>3/3/2025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D5A52C-3C6F-CBA4-8E5B-5D18F1BBBA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48AC23-2053-1E3A-3A6E-A63AFA37AD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6808-33CD-43D1-B992-3050690573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71285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370F60-AE56-19FF-03F3-46CC9BF76D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A278A1-B149-D966-FFC3-9A025E19CE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8A8E26-C6AF-DAA6-7127-4ED0521F38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9D1C45-FF56-4150-A10B-B4BFBDA2B469}" type="datetimeFigureOut">
              <a:rPr lang="en-US" smtClean="0"/>
              <a:t>3/3/2025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345E68-740D-B22B-1CC7-62D0DA4D89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73B983-21E6-0A2C-CA40-7AEC4B792B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6808-33CD-43D1-B992-3050690573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8604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E557E3-6CB7-3241-8285-B355142903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15D4CD-B0C4-9380-96B8-B6E2BC383C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6C6E0F6-2338-FAF7-09E4-2FE6BB787D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D925D78-6AC9-C74A-F95C-034366B321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9D1C45-FF56-4150-A10B-B4BFBDA2B469}" type="datetimeFigureOut">
              <a:rPr lang="en-US" smtClean="0"/>
              <a:t>3/3/2025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31CE40-1F3E-2656-18A5-15AAC8B7E1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A9B4A3-54D9-C939-D77B-24C0C148E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6808-33CD-43D1-B992-3050690573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46318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99EE75-2C20-9058-4AFB-D47820D810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92CF1CF-630D-60D4-2590-42FDB63022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F3DAEA6-3BA6-203E-A487-CE54431C3CC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1704204-FE9B-D9EE-90A9-EF1C5DCEC98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965EFD0-ABC0-5001-DC88-743F204AA0D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FD026C2-7E99-50D1-FAE4-71AB9098BB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9D1C45-FF56-4150-A10B-B4BFBDA2B469}" type="datetimeFigureOut">
              <a:rPr lang="en-US" smtClean="0"/>
              <a:t>3/3/2025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C0D0DE3-60A6-B0DC-DF73-51FA9BC103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25A12F4-85FA-DBF6-518A-A49B69D4AD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6808-33CD-43D1-B992-3050690573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76989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D59CF1-7623-38ED-6F5D-3A224A9A37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6E9AB82-774C-4E93-6B88-2CBE062A15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9D1C45-FF56-4150-A10B-B4BFBDA2B469}" type="datetimeFigureOut">
              <a:rPr lang="en-US" smtClean="0"/>
              <a:t>3/3/2025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6E5676-EA99-B5E7-363B-4DEB134AE4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8056DC4-C9C4-4E6B-1658-F8662A76AA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6808-33CD-43D1-B992-3050690573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3752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00FC579-CFF8-2F8A-1D9C-53CAC19604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9D1C45-FF56-4150-A10B-B4BFBDA2B469}" type="datetimeFigureOut">
              <a:rPr lang="en-US" smtClean="0"/>
              <a:t>3/3/2025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BDE827E-8361-2382-36A5-0FA092653C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D6BED2-B38C-1CAD-7429-A70B4F0D18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6808-33CD-43D1-B992-3050690573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80533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A7D8B7-83C0-A6BC-5924-59B3652034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972982-FC89-1DFF-FC4B-59460C113F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973F8E2-3272-ACBA-E297-98C61EB99DF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A73B28-A5C6-771A-6D23-203DFECBC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9D1C45-FF56-4150-A10B-B4BFBDA2B469}" type="datetimeFigureOut">
              <a:rPr lang="en-US" smtClean="0"/>
              <a:t>3/3/2025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FB81F9-4231-0C7A-4DF7-BA9B2FBBBA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24BD6D-01EB-4E7B-BFD1-F36958F9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6808-33CD-43D1-B992-3050690573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03057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D8EC4F-E567-75AB-79FB-D94C55B6E1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ED8CB01-B8A4-F15B-F2E1-D137F3D6B1B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D883F4E-A2A7-C47F-BB63-0A2DB527FB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730A51-62FB-2583-6F23-7DE14CA431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9D1C45-FF56-4150-A10B-B4BFBDA2B469}" type="datetimeFigureOut">
              <a:rPr lang="en-US" smtClean="0"/>
              <a:t>3/3/2025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24A6AD-DC22-A551-6574-908B32B31E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945E7EF-9C1E-DDD7-ADCA-270C5ABDA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6808-33CD-43D1-B992-3050690573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65343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4CBBB3-AF25-81F6-7D59-0E77C60393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361EDD-5D43-1496-EA83-7297602F06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C0E024-245C-4A9A-87F8-1A001EC1C4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9D1C45-FF56-4150-A10B-B4BFBDA2B469}" type="datetimeFigureOut">
              <a:rPr lang="en-US" smtClean="0"/>
              <a:t>3/3/2025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8AD931-E045-7864-A3F0-F6610ACBAC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F63A28-85B0-BF9E-6235-FCE6C94CC0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6808-33CD-43D1-B992-3050690573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9204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2BAD86-8ECA-C5DC-0FDB-989E4CFCF81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B04A1FE-0499-A484-0C19-5A563C00DE0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49C093-2E25-09D9-6BB4-BB6FFBEECD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9D1C45-FF56-4150-A10B-B4BFBDA2B469}" type="datetimeFigureOut">
              <a:rPr lang="en-US" smtClean="0"/>
              <a:t>3/3/2025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C5E390-6EAE-6F26-B4EC-C8B9C4987E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180B9D-3126-9D53-CAEC-6AEE0130E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6808-33CD-43D1-B992-3050690573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52270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0F3D0BF-D793-C6B1-7B12-57905F03D8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CF4AAB-ADDD-0514-62CC-2258C1A5B6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998B25-35DA-9A1A-1389-F3C86E44028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9D1C45-FF56-4150-A10B-B4BFBDA2B469}" type="datetimeFigureOut">
              <a:rPr lang="en-US" smtClean="0"/>
              <a:t>3/3/2025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95D629-A5D1-B9FD-A0DB-23B7E4A1C2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1490D1-CEB2-86BA-AFE9-D0D0C6AB43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C1D6808-33CD-43D1-B992-3050690573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82826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Rectangle 90">
            <a:extLst>
              <a:ext uri="{FF2B5EF4-FFF2-40B4-BE49-F238E27FC236}">
                <a16:creationId xmlns:a16="http://schemas.microsoft.com/office/drawing/2014/main" id="{C582E259-B2D8-2806-D0CD-874013A49318}"/>
              </a:ext>
            </a:extLst>
          </p:cNvPr>
          <p:cNvSpPr/>
          <p:nvPr/>
        </p:nvSpPr>
        <p:spPr>
          <a:xfrm>
            <a:off x="716692" y="4159424"/>
            <a:ext cx="10939849" cy="1542912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rgbClr val="FF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9ADDC2D-21F4-440F-52E6-6B399F8EAF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44503"/>
            <a:ext cx="10515600" cy="1325563"/>
          </a:xfrm>
        </p:spPr>
        <p:txBody>
          <a:bodyPr/>
          <a:lstStyle/>
          <a:p>
            <a:r>
              <a:rPr lang="en-US" b="1" dirty="0"/>
              <a:t>Overall Structure of the GeneAgent Code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216B939-D61A-363E-EC75-050E95F8439D}"/>
              </a:ext>
            </a:extLst>
          </p:cNvPr>
          <p:cNvSpPr/>
          <p:nvPr/>
        </p:nvSpPr>
        <p:spPr>
          <a:xfrm>
            <a:off x="4662614" y="1657737"/>
            <a:ext cx="2075935" cy="407347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main_cascade.py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85CDE1D-4250-CC74-78D5-1A1A8C2101C7}"/>
              </a:ext>
            </a:extLst>
          </p:cNvPr>
          <p:cNvSpPr/>
          <p:nvPr/>
        </p:nvSpPr>
        <p:spPr>
          <a:xfrm>
            <a:off x="4662615" y="2573217"/>
            <a:ext cx="2075935" cy="407346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worker.py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EDCD82DA-D273-E62A-0FC8-821DE3EF4379}"/>
              </a:ext>
            </a:extLst>
          </p:cNvPr>
          <p:cNvSpPr/>
          <p:nvPr/>
        </p:nvSpPr>
        <p:spPr>
          <a:xfrm>
            <a:off x="2716425" y="4303026"/>
            <a:ext cx="1684641" cy="560173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chemeClr val="tx1"/>
                </a:solidFill>
              </a:rPr>
              <a:t>get_pathway_for_gene_set.py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74533AA-DB4D-B586-BEA8-43854A11FE29}"/>
              </a:ext>
            </a:extLst>
          </p:cNvPr>
          <p:cNvSpPr/>
          <p:nvPr/>
        </p:nvSpPr>
        <p:spPr>
          <a:xfrm>
            <a:off x="4605990" y="4300152"/>
            <a:ext cx="1684641" cy="560173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chemeClr val="tx1"/>
                </a:solidFill>
              </a:rPr>
              <a:t>get_complex_for_complex_id.py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EC2AC39-EDFA-FAF8-C6DD-C734651F1D06}"/>
              </a:ext>
            </a:extLst>
          </p:cNvPr>
          <p:cNvSpPr/>
          <p:nvPr/>
        </p:nvSpPr>
        <p:spPr>
          <a:xfrm>
            <a:off x="6379185" y="4268772"/>
            <a:ext cx="1613575" cy="560173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chemeClr val="tx1"/>
                </a:solidFill>
              </a:rPr>
              <a:t>get_disease_for_disease_id.py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27E0C0FD-C547-BC65-9B6A-ED3A76153644}"/>
              </a:ext>
            </a:extLst>
          </p:cNvPr>
          <p:cNvSpPr/>
          <p:nvPr/>
        </p:nvSpPr>
        <p:spPr>
          <a:xfrm>
            <a:off x="8250214" y="4291914"/>
            <a:ext cx="1643422" cy="560173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chemeClr val="tx1"/>
                </a:solidFill>
              </a:rPr>
              <a:t>get_domain_for_domain_id.py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33C90E40-D8CA-51DA-F489-198D327C145A}"/>
              </a:ext>
            </a:extLst>
          </p:cNvPr>
          <p:cNvSpPr/>
          <p:nvPr/>
        </p:nvSpPr>
        <p:spPr>
          <a:xfrm>
            <a:off x="10151090" y="4277010"/>
            <a:ext cx="1359243" cy="591553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chemeClr val="tx1"/>
                </a:solidFill>
              </a:rPr>
              <a:t>……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6BA44953-E6F4-0822-6848-7D5B1124A478}"/>
              </a:ext>
            </a:extLst>
          </p:cNvPr>
          <p:cNvSpPr/>
          <p:nvPr/>
        </p:nvSpPr>
        <p:spPr>
          <a:xfrm>
            <a:off x="782588" y="4300152"/>
            <a:ext cx="1661980" cy="560173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chemeClr val="tx1"/>
                </a:solidFill>
              </a:rPr>
              <a:t>get_enrichment_for_gene_set.py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4B882A83-9ACD-4308-FEC4-B15F9048C9AE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>
            <a:off x="5700582" y="2065084"/>
            <a:ext cx="1" cy="508133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F0A6EE03-EA6D-A247-3B01-6C73C3226AD5}"/>
              </a:ext>
            </a:extLst>
          </p:cNvPr>
          <p:cNvSpPr txBox="1"/>
          <p:nvPr/>
        </p:nvSpPr>
        <p:spPr>
          <a:xfrm>
            <a:off x="5850114" y="2148797"/>
            <a:ext cx="626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call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7C08DD2-D15E-6E14-8B45-05503E378C1D}"/>
              </a:ext>
            </a:extLst>
          </p:cNvPr>
          <p:cNvCxnSpPr>
            <a:cxnSpLocks/>
            <a:stCxn id="5" idx="2"/>
            <a:endCxn id="11" idx="0"/>
          </p:cNvCxnSpPr>
          <p:nvPr/>
        </p:nvCxnSpPr>
        <p:spPr>
          <a:xfrm flipH="1">
            <a:off x="1613578" y="2980563"/>
            <a:ext cx="4087005" cy="131958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425C7F6B-EB5B-43BB-B451-0D83CA52206E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 flipH="1">
            <a:off x="3558746" y="2980563"/>
            <a:ext cx="2141837" cy="1322463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D29F4B0-56A7-541B-C768-6A066AF1C0CB}"/>
              </a:ext>
            </a:extLst>
          </p:cNvPr>
          <p:cNvCxnSpPr>
            <a:cxnSpLocks/>
            <a:stCxn id="5" idx="2"/>
            <a:endCxn id="7" idx="0"/>
          </p:cNvCxnSpPr>
          <p:nvPr/>
        </p:nvCxnSpPr>
        <p:spPr>
          <a:xfrm flipH="1">
            <a:off x="5448311" y="2980563"/>
            <a:ext cx="252272" cy="131958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5E462C34-F1D6-1102-5B33-4B7A7912AD59}"/>
              </a:ext>
            </a:extLst>
          </p:cNvPr>
          <p:cNvCxnSpPr>
            <a:cxnSpLocks/>
            <a:stCxn id="5" idx="2"/>
            <a:endCxn id="8" idx="0"/>
          </p:cNvCxnSpPr>
          <p:nvPr/>
        </p:nvCxnSpPr>
        <p:spPr>
          <a:xfrm>
            <a:off x="5700583" y="2980563"/>
            <a:ext cx="1485390" cy="128820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705F6037-916B-32F8-DB40-B0727D97FC85}"/>
              </a:ext>
            </a:extLst>
          </p:cNvPr>
          <p:cNvCxnSpPr>
            <a:cxnSpLocks/>
            <a:stCxn id="5" idx="2"/>
            <a:endCxn id="9" idx="0"/>
          </p:cNvCxnSpPr>
          <p:nvPr/>
        </p:nvCxnSpPr>
        <p:spPr>
          <a:xfrm>
            <a:off x="5700583" y="2980563"/>
            <a:ext cx="3371342" cy="131135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7B5B5C56-319B-4EF6-EABD-61B9C3961D61}"/>
              </a:ext>
            </a:extLst>
          </p:cNvPr>
          <p:cNvCxnSpPr>
            <a:cxnSpLocks/>
            <a:stCxn id="5" idx="2"/>
            <a:endCxn id="10" idx="0"/>
          </p:cNvCxnSpPr>
          <p:nvPr/>
        </p:nvCxnSpPr>
        <p:spPr>
          <a:xfrm>
            <a:off x="5700583" y="2980563"/>
            <a:ext cx="5130129" cy="129644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771BA05E-A0D5-0E84-2BA3-8EF6A517E619}"/>
              </a:ext>
            </a:extLst>
          </p:cNvPr>
          <p:cNvSpPr txBox="1"/>
          <p:nvPr/>
        </p:nvSpPr>
        <p:spPr>
          <a:xfrm>
            <a:off x="3017118" y="3373521"/>
            <a:ext cx="10626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call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5A05C4D-A075-7526-19A6-BB5CA8BA2DD7}"/>
              </a:ext>
            </a:extLst>
          </p:cNvPr>
          <p:cNvSpPr txBox="1"/>
          <p:nvPr/>
        </p:nvSpPr>
        <p:spPr>
          <a:xfrm>
            <a:off x="3766722" y="3618141"/>
            <a:ext cx="10626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call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25D894D-B07F-99FE-B4D0-192B9DCEF8D7}"/>
              </a:ext>
            </a:extLst>
          </p:cNvPr>
          <p:cNvSpPr txBox="1"/>
          <p:nvPr/>
        </p:nvSpPr>
        <p:spPr>
          <a:xfrm>
            <a:off x="4977712" y="3625685"/>
            <a:ext cx="10626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call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9CBC06D-46F5-638F-1D19-216CF807DF7B}"/>
              </a:ext>
            </a:extLst>
          </p:cNvPr>
          <p:cNvSpPr txBox="1"/>
          <p:nvPr/>
        </p:nvSpPr>
        <p:spPr>
          <a:xfrm>
            <a:off x="5944848" y="3676521"/>
            <a:ext cx="10626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call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63CF73B8-9DB4-9B13-0752-A3C6B29B2CA1}"/>
              </a:ext>
            </a:extLst>
          </p:cNvPr>
          <p:cNvSpPr txBox="1"/>
          <p:nvPr/>
        </p:nvSpPr>
        <p:spPr>
          <a:xfrm>
            <a:off x="6911543" y="3632809"/>
            <a:ext cx="10626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call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4B3B0258-B963-DBBA-D1EE-F6B33F2F11EC}"/>
              </a:ext>
            </a:extLst>
          </p:cNvPr>
          <p:cNvSpPr txBox="1"/>
          <p:nvPr/>
        </p:nvSpPr>
        <p:spPr>
          <a:xfrm>
            <a:off x="7918630" y="3298971"/>
            <a:ext cx="10626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call</a:t>
            </a:r>
          </a:p>
        </p:txBody>
      </p:sp>
      <p:sp>
        <p:nvSpPr>
          <p:cNvPr id="94" name="Rectangle: Rounded Corners 93">
            <a:extLst>
              <a:ext uri="{FF2B5EF4-FFF2-40B4-BE49-F238E27FC236}">
                <a16:creationId xmlns:a16="http://schemas.microsoft.com/office/drawing/2014/main" id="{E4C0A09E-FE34-0DCB-46BE-14477293F089}"/>
              </a:ext>
            </a:extLst>
          </p:cNvPr>
          <p:cNvSpPr/>
          <p:nvPr/>
        </p:nvSpPr>
        <p:spPr>
          <a:xfrm>
            <a:off x="619065" y="5110783"/>
            <a:ext cx="4345503" cy="591553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All of these are in the **</a:t>
            </a:r>
            <a:r>
              <a:rPr lang="en-US" dirty="0" err="1">
                <a:solidFill>
                  <a:srgbClr val="FF0000"/>
                </a:solidFill>
              </a:rPr>
              <a:t>apis</a:t>
            </a:r>
            <a:r>
              <a:rPr lang="en-US" dirty="0">
                <a:solidFill>
                  <a:srgbClr val="FF0000"/>
                </a:solidFill>
              </a:rPr>
              <a:t>** directory</a:t>
            </a:r>
          </a:p>
        </p:txBody>
      </p:sp>
    </p:spTree>
    <p:extLst>
      <p:ext uri="{BB962C8B-B14F-4D97-AF65-F5344CB8AC3E}">
        <p14:creationId xmlns:p14="http://schemas.microsoft.com/office/powerpoint/2010/main" val="36711395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45A178-29ED-B897-F8EF-1FAF1005C7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4338"/>
            <a:ext cx="10515600" cy="1208301"/>
          </a:xfrm>
        </p:spPr>
        <p:txBody>
          <a:bodyPr/>
          <a:lstStyle/>
          <a:p>
            <a:r>
              <a:rPr lang="en-US" b="1" dirty="0"/>
              <a:t>Process of main_cascade.py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114EFA5-DBBC-C789-5252-B980F1C63360}"/>
              </a:ext>
            </a:extLst>
          </p:cNvPr>
          <p:cNvSpPr/>
          <p:nvPr/>
        </p:nvSpPr>
        <p:spPr>
          <a:xfrm>
            <a:off x="2247703" y="1054089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00FFFF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  <a:latin typeface="Aptos" panose="020B0004020202020204" pitchFamily="34" charset="0"/>
              </a:rPr>
              <a:t>Gene Set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D55D06A2-D73B-41CD-BF28-F746826F6D52}"/>
              </a:ext>
            </a:extLst>
          </p:cNvPr>
          <p:cNvSpPr/>
          <p:nvPr/>
        </p:nvSpPr>
        <p:spPr>
          <a:xfrm>
            <a:off x="1866703" y="2200253"/>
            <a:ext cx="2590800" cy="672085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chemeClr val="tx1"/>
                </a:solidFill>
                <a:latin typeface="Aptos" panose="020B0004020202020204" pitchFamily="34" charset="0"/>
              </a:rPr>
              <a:t>Generation</a:t>
            </a:r>
            <a:r>
              <a:rPr lang="en-US" sz="1600" dirty="0">
                <a:solidFill>
                  <a:schemeClr val="tx1"/>
                </a:solidFill>
                <a:latin typeface="Aptos" panose="020B0004020202020204" pitchFamily="34" charset="0"/>
              </a:rPr>
              <a:t> by </a:t>
            </a:r>
          </a:p>
          <a:p>
            <a:pPr algn="ctr"/>
            <a:r>
              <a:rPr lang="en-US" sz="1600" dirty="0">
                <a:solidFill>
                  <a:schemeClr val="tx1"/>
                </a:solidFill>
                <a:latin typeface="Aptos" panose="020B0004020202020204" pitchFamily="34" charset="0"/>
              </a:rPr>
              <a:t>Standard GPT-4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1545BB0-6942-D418-9A43-55DE7349D560}"/>
              </a:ext>
            </a:extLst>
          </p:cNvPr>
          <p:cNvSpPr/>
          <p:nvPr/>
        </p:nvSpPr>
        <p:spPr>
          <a:xfrm>
            <a:off x="1885556" y="4485878"/>
            <a:ext cx="2579993" cy="672085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chemeClr val="tx1"/>
                </a:solidFill>
                <a:latin typeface="Aptos" panose="020B0004020202020204" pitchFamily="34" charset="0"/>
              </a:rPr>
              <a:t>Claims </a:t>
            </a:r>
            <a:r>
              <a:rPr lang="en-US" sz="1600" dirty="0">
                <a:solidFill>
                  <a:schemeClr val="tx1"/>
                </a:solidFill>
                <a:latin typeface="Aptos" panose="020B0004020202020204" pitchFamily="34" charset="0"/>
              </a:rPr>
              <a:t>for verifying Process Name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1C90E63-90E0-6056-DA59-A626D8F8E63D}"/>
              </a:ext>
            </a:extLst>
          </p:cNvPr>
          <p:cNvCxnSpPr>
            <a:stCxn id="6" idx="2"/>
            <a:endCxn id="7" idx="0"/>
          </p:cNvCxnSpPr>
          <p:nvPr/>
        </p:nvCxnSpPr>
        <p:spPr>
          <a:xfrm>
            <a:off x="3162103" y="1511289"/>
            <a:ext cx="0" cy="68896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9E37427-7570-BD1C-5433-873D9FC2141D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>
            <a:off x="3162103" y="2872338"/>
            <a:ext cx="13450" cy="161354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D7B7F45-F9B7-8CFC-9391-30B79EC0A9A3}"/>
              </a:ext>
            </a:extLst>
          </p:cNvPr>
          <p:cNvCxnSpPr>
            <a:cxnSpLocks/>
            <a:stCxn id="8" idx="2"/>
          </p:cNvCxnSpPr>
          <p:nvPr/>
        </p:nvCxnSpPr>
        <p:spPr>
          <a:xfrm>
            <a:off x="3175553" y="5157963"/>
            <a:ext cx="0" cy="161354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739D0032-1B30-3F08-EBDF-00EC14473A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3176" y="1440232"/>
            <a:ext cx="3139319" cy="1844350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034D2779-D667-59D3-0B86-316A73C68E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176" y="3658159"/>
            <a:ext cx="4565477" cy="2032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50958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1545BB0-6942-D418-9A43-55DE7349D560}"/>
              </a:ext>
            </a:extLst>
          </p:cNvPr>
          <p:cNvSpPr/>
          <p:nvPr/>
        </p:nvSpPr>
        <p:spPr>
          <a:xfrm>
            <a:off x="1877509" y="498764"/>
            <a:ext cx="2579993" cy="672085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chemeClr val="tx1"/>
                </a:solidFill>
                <a:latin typeface="Aptos" panose="020B0004020202020204" pitchFamily="34" charset="0"/>
              </a:rPr>
              <a:t>self-Verification</a:t>
            </a:r>
            <a:r>
              <a:rPr lang="en-US" sz="1600" dirty="0">
                <a:solidFill>
                  <a:schemeClr val="tx1"/>
                </a:solidFill>
                <a:latin typeface="Aptos" panose="020B0004020202020204" pitchFamily="34" charset="0"/>
              </a:rPr>
              <a:t> for Process Name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0D2D7265-A3A3-93B5-23DA-9480C62832B5}"/>
              </a:ext>
            </a:extLst>
          </p:cNvPr>
          <p:cNvSpPr/>
          <p:nvPr/>
        </p:nvSpPr>
        <p:spPr>
          <a:xfrm>
            <a:off x="1872973" y="4463367"/>
            <a:ext cx="2603383" cy="672085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chemeClr val="tx1"/>
                </a:solidFill>
                <a:latin typeface="Aptos" panose="020B0004020202020204" pitchFamily="34" charset="0"/>
              </a:rPr>
              <a:t>Claims</a:t>
            </a:r>
            <a:r>
              <a:rPr lang="en-US" sz="1600" dirty="0">
                <a:solidFill>
                  <a:schemeClr val="tx1"/>
                </a:solidFill>
                <a:latin typeface="Aptos" panose="020B0004020202020204" pitchFamily="34" charset="0"/>
              </a:rPr>
              <a:t> for verifying Analytical Texts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D7B7F45-F9B7-8CFC-9391-30B79EC0A9A3}"/>
              </a:ext>
            </a:extLst>
          </p:cNvPr>
          <p:cNvCxnSpPr>
            <a:cxnSpLocks/>
            <a:stCxn id="8" idx="2"/>
            <a:endCxn id="16" idx="0"/>
          </p:cNvCxnSpPr>
          <p:nvPr/>
        </p:nvCxnSpPr>
        <p:spPr>
          <a:xfrm>
            <a:off x="3167506" y="1170849"/>
            <a:ext cx="0" cy="122378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24A6BDE-A993-1682-62E5-DD710D124FAB}"/>
              </a:ext>
            </a:extLst>
          </p:cNvPr>
          <p:cNvCxnSpPr>
            <a:cxnSpLocks/>
            <a:stCxn id="16" idx="2"/>
            <a:endCxn id="9" idx="0"/>
          </p:cNvCxnSpPr>
          <p:nvPr/>
        </p:nvCxnSpPr>
        <p:spPr>
          <a:xfrm>
            <a:off x="3167506" y="3030093"/>
            <a:ext cx="7159" cy="143327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17F2F38A-5CE0-E39D-0076-8B4A6AC221D3}"/>
              </a:ext>
            </a:extLst>
          </p:cNvPr>
          <p:cNvCxnSpPr>
            <a:cxnSpLocks/>
            <a:stCxn id="9" idx="2"/>
          </p:cNvCxnSpPr>
          <p:nvPr/>
        </p:nvCxnSpPr>
        <p:spPr>
          <a:xfrm flipH="1">
            <a:off x="3174664" y="5135452"/>
            <a:ext cx="1" cy="129006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44EDD44C-2503-5060-B2D8-97918301C5CB}"/>
              </a:ext>
            </a:extLst>
          </p:cNvPr>
          <p:cNvSpPr/>
          <p:nvPr/>
        </p:nvSpPr>
        <p:spPr>
          <a:xfrm>
            <a:off x="1877509" y="2394633"/>
            <a:ext cx="2579993" cy="635460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chemeClr val="tx1"/>
                </a:solidFill>
                <a:latin typeface="Aptos" panose="020B0004020202020204" pitchFamily="34" charset="0"/>
              </a:rPr>
              <a:t>Modification </a:t>
            </a:r>
            <a:r>
              <a:rPr lang="en-US" sz="1600" dirty="0">
                <a:solidFill>
                  <a:schemeClr val="tx1"/>
                </a:solidFill>
                <a:latin typeface="Aptos" panose="020B0004020202020204" pitchFamily="34" charset="0"/>
              </a:rPr>
              <a:t>based on Verification Report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8026676-F13C-9AC3-8B86-784788CFF2EB}"/>
              </a:ext>
            </a:extLst>
          </p:cNvPr>
          <p:cNvCxnSpPr>
            <a:cxnSpLocks/>
            <a:endCxn id="8" idx="0"/>
          </p:cNvCxnSpPr>
          <p:nvPr/>
        </p:nvCxnSpPr>
        <p:spPr>
          <a:xfrm>
            <a:off x="3167506" y="0"/>
            <a:ext cx="0" cy="49876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" name="Picture 20">
            <a:extLst>
              <a:ext uri="{FF2B5EF4-FFF2-40B4-BE49-F238E27FC236}">
                <a16:creationId xmlns:a16="http://schemas.microsoft.com/office/drawing/2014/main" id="{4F6415DC-F386-307B-A86A-0F0D33C5A6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0918" y="348963"/>
            <a:ext cx="4324954" cy="971686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B94D8F82-AD71-647C-2A9B-BA95D04469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8940" y="1782741"/>
            <a:ext cx="5305551" cy="1799056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CDE13226-E44B-FD9F-AE61-0F11712D54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95545" y="4163002"/>
            <a:ext cx="5318946" cy="1799055"/>
          </a:xfrm>
          <a:prstGeom prst="rect">
            <a:avLst/>
          </a:prstGeom>
        </p:spPr>
      </p:pic>
      <p:sp>
        <p:nvSpPr>
          <p:cNvPr id="45" name="TextBox 44">
            <a:extLst>
              <a:ext uri="{FF2B5EF4-FFF2-40B4-BE49-F238E27FC236}">
                <a16:creationId xmlns:a16="http://schemas.microsoft.com/office/drawing/2014/main" id="{97EDCEF4-D262-1FB2-9887-F9DC4FC3B22E}"/>
              </a:ext>
            </a:extLst>
          </p:cNvPr>
          <p:cNvSpPr txBox="1"/>
          <p:nvPr/>
        </p:nvSpPr>
        <p:spPr>
          <a:xfrm>
            <a:off x="10157254" y="593124"/>
            <a:ext cx="1696995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Call </a:t>
            </a:r>
            <a:r>
              <a:rPr lang="en-US" b="1" dirty="0">
                <a:solidFill>
                  <a:srgbClr val="FF0000"/>
                </a:solidFill>
              </a:rPr>
              <a:t>worker.py</a:t>
            </a:r>
          </a:p>
        </p:txBody>
      </p:sp>
    </p:spTree>
    <p:extLst>
      <p:ext uri="{BB962C8B-B14F-4D97-AF65-F5344CB8AC3E}">
        <p14:creationId xmlns:p14="http://schemas.microsoft.com/office/powerpoint/2010/main" val="5211189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0D2D7265-A3A3-93B5-23DA-9480C62832B5}"/>
              </a:ext>
            </a:extLst>
          </p:cNvPr>
          <p:cNvSpPr/>
          <p:nvPr/>
        </p:nvSpPr>
        <p:spPr>
          <a:xfrm>
            <a:off x="1854819" y="811069"/>
            <a:ext cx="2603383" cy="672085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chemeClr val="tx1"/>
                </a:solidFill>
                <a:latin typeface="Aptos" panose="020B0004020202020204" pitchFamily="34" charset="0"/>
              </a:rPr>
              <a:t>self-Verification</a:t>
            </a:r>
            <a:r>
              <a:rPr lang="en-US" sz="1600" dirty="0">
                <a:solidFill>
                  <a:schemeClr val="tx1"/>
                </a:solidFill>
                <a:latin typeface="Aptos" panose="020B0004020202020204" pitchFamily="34" charset="0"/>
              </a:rPr>
              <a:t> for Analytical Texts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C51CD12-7A36-FFB5-0924-B4569995D0DE}"/>
              </a:ext>
            </a:extLst>
          </p:cNvPr>
          <p:cNvSpPr/>
          <p:nvPr/>
        </p:nvSpPr>
        <p:spPr>
          <a:xfrm>
            <a:off x="1864246" y="2909116"/>
            <a:ext cx="2603382" cy="613397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chemeClr val="tx1"/>
                </a:solidFill>
                <a:latin typeface="Aptos" panose="020B0004020202020204" pitchFamily="34" charset="0"/>
              </a:rPr>
              <a:t>Summarization </a:t>
            </a:r>
            <a:r>
              <a:rPr lang="en-US" sz="1600" dirty="0">
                <a:solidFill>
                  <a:schemeClr val="tx1"/>
                </a:solidFill>
                <a:latin typeface="Aptos" panose="020B0004020202020204" pitchFamily="34" charset="0"/>
              </a:rPr>
              <a:t>base on Verification Report 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24A6BDE-A993-1682-62E5-DD710D124FAB}"/>
              </a:ext>
            </a:extLst>
          </p:cNvPr>
          <p:cNvCxnSpPr>
            <a:cxnSpLocks/>
            <a:endCxn id="9" idx="0"/>
          </p:cNvCxnSpPr>
          <p:nvPr/>
        </p:nvCxnSpPr>
        <p:spPr>
          <a:xfrm>
            <a:off x="3156510" y="0"/>
            <a:ext cx="1" cy="8110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17F2F38A-5CE0-E39D-0076-8B4A6AC221D3}"/>
              </a:ext>
            </a:extLst>
          </p:cNvPr>
          <p:cNvCxnSpPr>
            <a:cxnSpLocks/>
            <a:stCxn id="9" idx="2"/>
            <a:endCxn id="10" idx="0"/>
          </p:cNvCxnSpPr>
          <p:nvPr/>
        </p:nvCxnSpPr>
        <p:spPr>
          <a:xfrm>
            <a:off x="3156511" y="1483154"/>
            <a:ext cx="9426" cy="142596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" name="Picture 19">
            <a:extLst>
              <a:ext uri="{FF2B5EF4-FFF2-40B4-BE49-F238E27FC236}">
                <a16:creationId xmlns:a16="http://schemas.microsoft.com/office/drawing/2014/main" id="{EE3A3D70-09EC-4205-E4F1-66DA43C071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2262" y="670794"/>
            <a:ext cx="4591691" cy="952633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E57E2807-C366-C88B-C265-117493651F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2262" y="2448279"/>
            <a:ext cx="5121424" cy="1359174"/>
          </a:xfrm>
          <a:prstGeom prst="rect">
            <a:avLst/>
          </a:prstGeom>
        </p:spPr>
      </p:pic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3F562A90-918E-D34D-EDA3-383A909BAC88}"/>
              </a:ext>
            </a:extLst>
          </p:cNvPr>
          <p:cNvSpPr/>
          <p:nvPr/>
        </p:nvSpPr>
        <p:spPr>
          <a:xfrm>
            <a:off x="2251537" y="5024727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00FFFF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  <a:latin typeface="Aptos" panose="020B0004020202020204" pitchFamily="34" charset="0"/>
              </a:rPr>
              <a:t>Output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1DF10795-F191-A30F-3F93-99B977E61A62}"/>
              </a:ext>
            </a:extLst>
          </p:cNvPr>
          <p:cNvCxnSpPr>
            <a:cxnSpLocks/>
            <a:stCxn id="10" idx="2"/>
            <a:endCxn id="24" idx="0"/>
          </p:cNvCxnSpPr>
          <p:nvPr/>
        </p:nvCxnSpPr>
        <p:spPr>
          <a:xfrm>
            <a:off x="3165937" y="3522513"/>
            <a:ext cx="0" cy="150221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227F772B-1407-03A3-0AF1-F57916A541E5}"/>
              </a:ext>
            </a:extLst>
          </p:cNvPr>
          <p:cNvSpPr txBox="1"/>
          <p:nvPr/>
        </p:nvSpPr>
        <p:spPr>
          <a:xfrm>
            <a:off x="10190206" y="962444"/>
            <a:ext cx="1696995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Call </a:t>
            </a:r>
            <a:r>
              <a:rPr lang="en-US" b="1" dirty="0">
                <a:solidFill>
                  <a:srgbClr val="FF0000"/>
                </a:solidFill>
              </a:rPr>
              <a:t>worker.py</a:t>
            </a:r>
          </a:p>
        </p:txBody>
      </p:sp>
    </p:spTree>
    <p:extLst>
      <p:ext uri="{BB962C8B-B14F-4D97-AF65-F5344CB8AC3E}">
        <p14:creationId xmlns:p14="http://schemas.microsoft.com/office/powerpoint/2010/main" val="31762571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</TotalTime>
  <Words>137</Words>
  <Application>Microsoft Office PowerPoint</Application>
  <PresentationFormat>Widescreen</PresentationFormat>
  <Paragraphs>30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Arial</vt:lpstr>
      <vt:lpstr>Calibri</vt:lpstr>
      <vt:lpstr>Calibri Light</vt:lpstr>
      <vt:lpstr>Office Theme</vt:lpstr>
      <vt:lpstr>Overall Structure of the GeneAgent Code</vt:lpstr>
      <vt:lpstr>Process of main_cascade.py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OpenAI Key</dc:title>
  <dc:creator>Wang, Zhizheng (NIH/NLM/NCBI) [F]</dc:creator>
  <cp:lastModifiedBy>Wang, Zhizheng (NIH/NLM/NCBI) [F]</cp:lastModifiedBy>
  <cp:revision>12</cp:revision>
  <dcterms:created xsi:type="dcterms:W3CDTF">2024-05-02T18:20:24Z</dcterms:created>
  <dcterms:modified xsi:type="dcterms:W3CDTF">2025-03-03T20:26:49Z</dcterms:modified>
</cp:coreProperties>
</file>